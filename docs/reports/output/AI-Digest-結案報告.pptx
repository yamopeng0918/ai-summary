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dPt>
            <c:idx val="0"/>
            <c:spPr>
              <a:solidFill>
                <a:srgbClr val="D75A43"/>
              </a:solidFill>
              <a:ln>
                <a:noFill/>
              </a:ln>
            </c:spPr>
          </c:dPt>
          <c:dPt>
            <c:idx val="1"/>
            <c:spPr>
              <a:solidFill>
                <a:srgbClr val="586B6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分類模型</c:v>
                </c:pt>
                <c:pt idx="1">
                  <c:v>最大類基準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91.6666666667</c:v>
                </c:pt>
                <c:pt idx="1">
                  <c:v>16.6666666667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700">
                  <a:latin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800">
                <a:latin typeface="Microsoft Jheng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Microsoft JhengHei"/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各位老師、評審好，我是彭元懋。我的專案是 AI Digest，一套在本機執行的內容摘要與分類工具。使用者提供公開網址，系統就能取得內容、產生繁體中文摘要，再整理成可以搜尋的公開網站。接下來，我會用實際成果、分類數據與驗收紀錄，說明這個系統完成了什麼，以及我如何處理跨來源整合與部署問題。</a:t>
            </a:r>
          </a:p>
          <a:p/>
          <a:p>
            <a:r>
              <a:t>[Sources]</a:t>
            </a:r>
          </a:p>
          <a:p>
            <a:r>
              <a:t>- progress.md：專案目標、目前整體進度。</a:t>
            </a:r>
          </a:p>
          <a:p>
            <a:r>
              <a:t>- 畫面來源：repository site/dist 的本機渲染，擷取日期 2026-09-05；對應公開網站 https://yamopeng0918.github.io/AI-Summary/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想處理的問題，是文章、影片和社群資訊分散在不同平台。即使已經讀過或看過，之後還是需要重新尋找重點。因此我把目標定為：讓公開網址變成可以保存、搜尋和分類的繁體中文摘要。這次的核心範圍很明確，包含一般網頁、YouTube，以及 Bluesky 的公開單篇貼文。需要登入、付費或受限制的內容，系統會回報錯誤，不會嘗試繞過限制，也不會用猜測補出摘要。</a:t>
            </a:r>
          </a:p>
          <a:p/>
          <a:p>
            <a:r>
              <a:t>[Sources]</a:t>
            </a:r>
          </a:p>
          <a:p>
            <a:r>
              <a:t>- docs/superpowers/specs/2026-08-09-ai-digest-mvp-design.md：第 1、7、8 節。</a:t>
            </a:r>
          </a:p>
          <a:p>
            <a:r>
              <a:t>- progress.md：已確認的產品與技術決策。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這是最後完成的網站。每筆內容都有短摘要、三到五個重點、分類、標籤，以及 AI 編輯觀點，也保留原始來源連結，方便回頭核對。訪客可以搜尋、按分類篩選，並切換日期排序。新增和管理內容則留在本機，由 CLI 執行。這樣的分工讓公開網站只負責瀏覽，也讓每次處理都能保存成獨立的結構化資料。成果因此不只是一段 AI 回覆，而是從輸入、保存到公開展示都能重複執行的流程。</a:t>
            </a:r>
          </a:p>
          <a:p/>
          <a:p>
            <a:r>
              <a:t>[Sources]</a:t>
            </a:r>
          </a:p>
          <a:p>
            <a:r>
              <a:t>- progress.md：目前整體進度、已確認的產品與技術決策。</a:t>
            </a:r>
          </a:p>
          <a:p>
            <a:r>
              <a:t>- README.md：CLI 與網站操作說明。</a:t>
            </a:r>
          </a:p>
          <a:p>
            <a:r>
              <a:t>- 畫面來源：repository site/dist 的本機渲染，擷取日期 2026-09-05；對應公開網站 https://yamopeng0918.github.io/AI-Summary/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流程從公開網址開始。系統先辨識來源，再選擇對應的解析器。網頁擷取正文，Bluesky 取得單篇貼文；YouTube 優先使用字幕，沒有可用字幕才進行音訊轉錄。三種來源取得文字後，就進入相同的摘要、分類、驗證和保存流程。這裡有一個重要邊界：Schema 驗證通過，才可以寫入 JSON。保存後，使用者再執行網站建置和部署；新增摘要不會自行把內容推到遠端。這讓資料處理和公開發布可以分別檢查，也方便定位失敗發生在哪個階段。</a:t>
            </a:r>
          </a:p>
          <a:p/>
          <a:p>
            <a:r>
              <a:t>[Sources]</a:t>
            </a:r>
          </a:p>
          <a:p>
            <a:r>
              <a:t>- docs/superpowers/specs/2026-08-09-ai-digest-mvp-design.md：第 3、6 節。</a:t>
            </a:r>
          </a:p>
          <a:p>
            <a:r>
              <a:t>- progress.md：YouTube、Bluesky、build-site 與 deploy 驗收紀錄。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這一頁用三個真實案例說明最後的呈現。網頁案例是 Python 爬蟲學習文章，影片案例是 Codex 教學，社群案例是 Bluesky 官方帳號的公開貼文。它們原本的內容長度和取得方式都不同，但最後都能以相同格式閱讀，並回到原始來源。YouTube 的有字幕和無可用字幕路徑，也已分別完成真實驗收。這裡展示的是系統的處理能力，不代表每個平台、每個網址都一定可讀；來源限制仍然會被保留並明確回報。</a:t>
            </a:r>
          </a:p>
          <a:p/>
          <a:p>
            <a:r>
              <a:t>[Sources]</a:t>
            </a:r>
          </a:p>
          <a:p>
            <a:r>
              <a:t>- data/summaries/20260814-python爬蟲新手筆記-pala-tw-8ed66e81.json</a:t>
            </a:r>
          </a:p>
          <a:p>
            <a:r>
              <a:t>- data/summaries/20260826-零基礎30分鐘學會codex-95-功能-福利贈送-9f06f9b7.json</a:t>
            </a:r>
          </a:p>
          <a:p>
            <a:r>
              <a:t>- data/summaries/20260828-bluesky-bsky-app-的-bluesky-貼文-5f8aee85.json</a:t>
            </a:r>
          </a:p>
          <a:p>
            <a:r>
              <a:t>- progress.md：2026-08-26 YouTube 真實驗收與 Bluesky 驗收紀錄。</a:t>
            </a:r>
          </a:p>
          <a:p>
            <a:r>
              <a:t>- 畫面來源：repository site/dist 的本機渲染，擷取日期 2026-09-05；對應公開網站 https://yamopeng0918.github.io/AI-Summary/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技術上，我用 Python CLI 處理來源擷取、AI 摘要與分類，因為資料處理和模型可以在同一個環境中整合。各個解析器只負責取得內容，不直接呼叫摘要服務，也不寫入摘要檔。摘要服務和分類器也各自維持單一責任。儲存層負責驗證與保存，Astro 則只讀取合法且已發布的資料。這樣做的好處，是某個平台出問題時，可以在自己的解析器中處理；同時，公開網站不需要金鑰，也不直接呼叫 AI 服務，安全邊界更清楚。</a:t>
            </a:r>
          </a:p>
          <a:p/>
          <a:p>
            <a:r>
              <a:t>[Sources]</a:t>
            </a:r>
          </a:p>
          <a:p>
            <a:r>
              <a:t>- docs/superpowers/specs/2026-08-09-ai-digest-mvp-design.md：第 2、3、4 節。</a:t>
            </a:r>
          </a:p>
          <a:p>
            <a:r>
              <a:t>- AGENTS.md：架構約束。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分類部分採用 TF-IDF 搭配 Logistic Regression。資料集有一百八十筆人工審核資料，六個類別各三十筆，使用固定的隨機種子，分成一百四十四筆訓練資料和三十六筆測試資料。測試集三十六筆中，三十三筆分類正確，Accuracy 是百分之九十一點六七；Macro F1 是零點九一七九。若全部猜同一個最大類別，基準只有百分之十六點六七，因此模型高出七十五個百分點。不過這是固定小型測試集的結果，不能直接保證所有未來內容都有相同準確率。保留評估報告與混淆矩陣，就是為了讓結果可以重現和檢查。</a:t>
            </a:r>
          </a:p>
          <a:p/>
          <a:p>
            <a:r>
              <a:t>[Sources]</a:t>
            </a:r>
          </a:p>
          <a:p>
            <a:r>
              <a:t>- data/classifier/evaluation.json：accuracy、macroF1、majorityBaselineAccuracy、confusionMatrix、trainingSamples、testSamples、seed。</a:t>
            </a:r>
          </a:p>
          <a:p>
            <a:r>
              <a:t>- progress.md：分類模型與評估。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合時，我遇到三個主要挑戰。第一是來源差異，處理方式是把解析器獨立出來，讓後面的流程只面對共同資料契約。第二是影片不一定有字幕，因此加入音訊轉錄，並在結束或失敗時處理本機及遠端暫存清理。第三是公開部署的風險：資料不完整或包含敏感資訊，都不應該出現在網站上。所以保存前有 Schema 驗證，部署前有建置和敏感資訊掃描。這些工作讓我學到，可靠性必須包含失敗時的行為，而不只是成功路徑能夠執行。</a:t>
            </a:r>
          </a:p>
          <a:p/>
          <a:p>
            <a:r>
              <a:t>[Sources]</a:t>
            </a:r>
          </a:p>
          <a:p>
            <a:r>
              <a:t>- progress.md：YouTube 清理重試、來源隔離、部署 gate 與驗收紀錄。</a:t>
            </a:r>
          </a:p>
          <a:p>
            <a:r>
              <a:t>- AGENTS.md：安全與來源限制、架構約束。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最後，用驗收紀錄回顧完成度。依九月三日的進度紀錄，完整 Python 測試有七百一十五項通過、兩項略過；略過原因是 Windows 的符號連結權限限制，另有一項第三方套件警告。前端有六十七項測試通過，正式建置和部署驗證也有紀錄。真實部署已確認推送、對應工作流程和公開網站檢查都成功。這次最大的學習，是把功能寫出來之後，還需要資料契約、可重現評估和明確的失敗邊界，才能成為可以維護的產品。目前三來源核心 MVP 已完成；PDF、OCR、登入內容和網站後台仍未實作。以上是我的結案報告，謝謝。</a:t>
            </a:r>
          </a:p>
          <a:p/>
          <a:p>
            <a:r>
              <a:t>[Sources]</a:t>
            </a:r>
          </a:p>
          <a:p>
            <a:r>
              <a:t>- progress.md：2026-09-03 deploy CLI 真實驗收與 Windows UTF-8 修正、本機 gates。</a:t>
            </a:r>
          </a:p>
          <a:p>
            <a:r>
              <a:t>- todo.md：核心完成項目及選配後續工作。</a:t>
            </a:r>
          </a:p>
          <a:p>
            <a:r>
              <a:t>- https://yamopeng0918.github.io/AI-Summary/ ：專案公開網站，網址依既有驗收紀錄。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yamopeng0918.github.io/AI-Summary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AI DIGEST  /  專案結案報告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548640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60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AI Digest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67712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0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從公開網址到可驗證、</a:t>
            </a:r>
          </a:p>
          <a:p>
            <a:pPr>
              <a:spcAft>
                <a:spcPts val="500"/>
              </a:spcAft>
              <a:defRPr sz="2500" b="0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可部署的 AI 知識摘要系統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846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彭元懋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63270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專案結案報告  ·  2026.09</a:t>
            </a:r>
          </a:p>
        </p:txBody>
      </p:sp>
      <p:pic>
        <p:nvPicPr>
          <p:cNvPr id="8" name="Picture 7" descr="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985266"/>
            <a:ext cx="5760719" cy="47045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93192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5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問題與專案目標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AI DIGEST  /  專案結案報告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07899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公開內容分散，</a:t>
            </a:r>
          </a:p>
          <a:p>
            <a:pPr>
              <a:spcAft>
                <a:spcPts val="500"/>
              </a:spcAft>
              <a:defRPr sz="36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閱讀後仍需要整理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576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公開網址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36576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結構化繁中摘要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6576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搜尋與分類瀏覽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6576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36576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663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核心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516636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一般網頁  ／  YouTube  ／  Bluesky 公開單篇貼文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只處理可直接讀取的公開內容；不可讀時回報明確錯誤。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93192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5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最終成果總覽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AI DIGEST  /  專案結案報告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03</a:t>
            </a:r>
          </a:p>
        </p:txBody>
      </p:sp>
      <p:pic>
        <p:nvPicPr>
          <p:cNvPr id="5" name="Picture 4" descr="overview.png"/>
          <p:cNvPicPr>
            <a:picLocks noChangeAspect="1"/>
          </p:cNvPicPr>
          <p:nvPr/>
        </p:nvPicPr>
        <p:blipFill>
          <a:blip r:embed="rId3"/>
          <a:srcRect t="25000"/>
          <a:stretch>
            <a:fillRect/>
          </a:stretch>
        </p:blipFill>
        <p:spPr>
          <a:xfrm>
            <a:off x="594360" y="1600200"/>
            <a:ext cx="7452360" cy="4191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57031" y="16002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7031" y="2075688"/>
            <a:ext cx="33832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三種來源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56946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網頁、影片、公開貼文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7031" y="299923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3474720"/>
            <a:ext cx="33832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結構化摘要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396849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繁中摘要、重點與編輯觀點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439826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4873752"/>
            <a:ext cx="33832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GitHub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5367527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搜尋、分類、排序與詳情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93192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5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三來源完整處理流程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AI DIGEST  /  專案結案報告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240280"/>
            <a:ext cx="1325880" cy="658368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386584"/>
            <a:ext cx="11064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公開網址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2240280"/>
            <a:ext cx="1325880" cy="658368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41448" y="2386584"/>
            <a:ext cx="11064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來源辨識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7672" y="23500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566160" cy="621792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517904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一般網頁｜正文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023360" y="1682496"/>
            <a:ext cx="0" cy="886968"/>
          </a:xfrm>
          <a:prstGeom prst="line">
            <a:avLst/>
          </a:prstGeom>
          <a:ln w="12700">
            <a:solidFill>
              <a:srgbClr val="586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23360" y="1682496"/>
            <a:ext cx="365760" cy="0"/>
          </a:xfrm>
          <a:prstGeom prst="line">
            <a:avLst/>
          </a:prstGeom>
          <a:ln w="12700">
            <a:solidFill>
              <a:srgbClr val="586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55279" y="1682496"/>
            <a:ext cx="365761" cy="0"/>
          </a:xfrm>
          <a:prstGeom prst="line">
            <a:avLst/>
          </a:prstGeom>
          <a:ln w="12700">
            <a:solidFill>
              <a:srgbClr val="586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21040" y="1682496"/>
            <a:ext cx="0" cy="914400"/>
          </a:xfrm>
          <a:prstGeom prst="line">
            <a:avLst/>
          </a:prstGeom>
          <a:ln w="12700">
            <a:solidFill>
              <a:srgbClr val="586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389120" y="2286000"/>
            <a:ext cx="3566160" cy="621792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2432304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YouTube｜字幕優先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23360" y="2569464"/>
            <a:ext cx="0" cy="27432"/>
          </a:xfrm>
          <a:prstGeom prst="line">
            <a:avLst/>
          </a:prstGeom>
          <a:ln w="12700">
            <a:solidFill>
              <a:srgbClr val="586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23360" y="2596896"/>
            <a:ext cx="365760" cy="0"/>
          </a:xfrm>
          <a:prstGeom prst="line">
            <a:avLst/>
          </a:prstGeom>
          <a:ln w="12700">
            <a:solidFill>
              <a:srgbClr val="586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955279" y="2596896"/>
            <a:ext cx="365761" cy="0"/>
          </a:xfrm>
          <a:prstGeom prst="line">
            <a:avLst/>
          </a:prstGeom>
          <a:ln w="12700">
            <a:solidFill>
              <a:srgbClr val="586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21040" y="2596896"/>
            <a:ext cx="0" cy="0"/>
          </a:xfrm>
          <a:prstGeom prst="line">
            <a:avLst/>
          </a:prstGeom>
          <a:ln w="12700">
            <a:solidFill>
              <a:srgbClr val="586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389120" y="3200400"/>
            <a:ext cx="3566160" cy="621792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3346704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Bluesky｜公開單篇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23360" y="2569464"/>
            <a:ext cx="0" cy="941832"/>
          </a:xfrm>
          <a:prstGeom prst="line">
            <a:avLst/>
          </a:prstGeom>
          <a:ln w="12700">
            <a:solidFill>
              <a:srgbClr val="586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023360" y="3511296"/>
            <a:ext cx="365760" cy="0"/>
          </a:xfrm>
          <a:prstGeom prst="line">
            <a:avLst/>
          </a:prstGeom>
          <a:ln w="12700">
            <a:solidFill>
              <a:srgbClr val="586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55279" y="3511296"/>
            <a:ext cx="365761" cy="0"/>
          </a:xfrm>
          <a:prstGeom prst="line">
            <a:avLst/>
          </a:prstGeom>
          <a:ln w="12700">
            <a:solidFill>
              <a:srgbClr val="586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21040" y="2596896"/>
            <a:ext cx="0" cy="914400"/>
          </a:xfrm>
          <a:prstGeom prst="line">
            <a:avLst/>
          </a:prstGeom>
          <a:ln w="12700">
            <a:solidFill>
              <a:srgbClr val="586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57600" y="2569464"/>
            <a:ext cx="365760" cy="0"/>
          </a:xfrm>
          <a:prstGeom prst="line">
            <a:avLst/>
          </a:prstGeom>
          <a:ln w="12700">
            <a:solidFill>
              <a:srgbClr val="586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26280" y="2926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無可用字幕 → 音訊轉錄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3960" y="2286000"/>
            <a:ext cx="2697480" cy="621792"/>
          </a:xfrm>
          <a:prstGeom prst="rect">
            <a:avLst/>
          </a:prstGeom>
          <a:solidFill>
            <a:srgbClr val="173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33688" y="2432304"/>
            <a:ext cx="24780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5F0E6"/>
                </a:solidFill>
                <a:latin typeface="Microsoft JhengHei"/>
              </a:defRPr>
            </a:pPr>
            <a:r>
              <a:rPr>
                <a:ea typeface="Microsoft JhengHei"/>
              </a:rPr>
              <a:t>取得文字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21040" y="2596896"/>
            <a:ext cx="502920" cy="0"/>
          </a:xfrm>
          <a:prstGeom prst="line">
            <a:avLst/>
          </a:prstGeom>
          <a:ln w="12700">
            <a:solidFill>
              <a:srgbClr val="586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893808" y="309067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27939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共同處理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42793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AI 摘要  →  分類  →  Schema 驗證  →  JSON 儲存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27608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後續獨立操作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5257800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Astro 建置  →  GitHub Pages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5879592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驗證通過才保存；新增摘要不會自動部署。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93192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5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三來源成果展示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AI DIGEST  /  專案結案報告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52728"/>
            <a:ext cx="31546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一般網頁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31546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從正文整理學習重點</a:t>
            </a:r>
          </a:p>
        </p:txBody>
      </p:sp>
      <p:pic>
        <p:nvPicPr>
          <p:cNvPr id="7" name="Picture 6" descr="w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714" y="2350008"/>
            <a:ext cx="2525970" cy="38221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26280" y="1252728"/>
            <a:ext cx="31546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YouTube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31546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字幕與音訊匯入同一格式</a:t>
            </a:r>
          </a:p>
        </p:txBody>
      </p:sp>
      <p:pic>
        <p:nvPicPr>
          <p:cNvPr id="10" name="Picture 9" descr="youtu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634" y="2350008"/>
            <a:ext cx="2525970" cy="38221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1252728"/>
            <a:ext cx="31546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Bluesky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783080"/>
            <a:ext cx="31546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保留貼文來源與作者</a:t>
            </a:r>
          </a:p>
        </p:txBody>
      </p:sp>
      <p:pic>
        <p:nvPicPr>
          <p:cNvPr id="13" name="Picture 12" descr="soc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2554" y="2350008"/>
            <a:ext cx="2525970" cy="38221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93192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5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系統架構與技術選擇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AI DIGEST  /  專案結案報告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本機 Python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13432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獨立解析器 → 摘要服務 → 分類器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35224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來源故障隔離；各模組只負責自己的工作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共同 Schema 與 JSON 儲存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3600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資料完整且通過驗證，才寫入獨立檔案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1463040"/>
            <a:ext cx="0" cy="4206240"/>
          </a:xfrm>
          <a:prstGeom prst="line">
            <a:avLst/>
          </a:prstGeom>
          <a:ln w="25400">
            <a:solidFill>
              <a:srgbClr val="D75A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0" y="141732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公開網站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58568"/>
            <a:ext cx="33832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Astro</a:t>
            </a:r>
          </a:p>
          <a:p>
            <a:pPr>
              <a:spcAft>
                <a:spcPts val="500"/>
              </a:spcAft>
              <a:defRPr sz="29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GitHub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776472"/>
            <a:ext cx="3383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只讀取已驗證的</a:t>
            </a:r>
          </a:p>
          <a:p>
            <a:pPr>
              <a:spcAft>
                <a:spcPts val="500"/>
              </a:spcAft>
              <a:defRPr sz="2100" b="0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published 資料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60527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前端不持有 API 金鑰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93192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5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分類模型與量化證據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AI DIGEST  /  專案結案報告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08176"/>
            <a:ext cx="50292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6200" b="1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91.67%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58775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Accuracy｜33 / 36 筆正確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900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3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0.9179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315968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Macro F1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715000" y="1463040"/>
          <a:ext cx="5824728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15000" y="5120640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Accuracy 高出基準 75 個百分點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180 筆人工審核資料，六類各 30 筆｜訓練 144／測試 36｜seed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93192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5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跨來源整合挑戰與解法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AI DIGEST  /  專案結案報告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150876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文字取得方式不同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15087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08760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獨立解析器與共同資料契約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67128"/>
            <a:ext cx="5349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單一平台失效，不破壞其他來源流程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3580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303580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YouTube 無可用字幕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30358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035808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音訊轉錄與暫存清理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694176"/>
            <a:ext cx="5349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字幕優先；結束或失敗時處理本機與遠端清理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62856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562856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公開部署的資料風險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456285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D75A43"/>
                </a:solidFill>
                <a:latin typeface="Microsoft JhengHei"/>
              </a:defRPr>
            </a:pPr>
            <a:r>
              <a:rPr>
                <a:ea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562856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73D32"/>
                </a:solidFill>
                <a:latin typeface="Microsoft JhengHei"/>
              </a:defRPr>
            </a:pPr>
            <a:r>
              <a:rPr>
                <a:ea typeface="Microsoft JhengHei"/>
              </a:rPr>
              <a:t>驗證、掃描與部署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221224"/>
            <a:ext cx="5349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86B62"/>
                </a:solidFill>
                <a:latin typeface="Microsoft JhengHei"/>
              </a:defRPr>
            </a:pPr>
            <a:r>
              <a:rPr>
                <a:ea typeface="Microsoft JhengHei"/>
              </a:rPr>
              <a:t>不完整資料拒絕寫入，公開前檢查建置成果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93192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500" b="1">
                <a:solidFill>
                  <a:srgbClr val="F5F0E6"/>
                </a:solidFill>
                <a:latin typeface="Microsoft JhengHei"/>
              </a:defRPr>
            </a:pPr>
            <a:r>
              <a:rPr>
                <a:ea typeface="Microsoft JhengHei"/>
              </a:rPr>
              <a:t>三來源核心 MVP 已完成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E8E4D8"/>
                </a:solidFill>
                <a:latin typeface="Microsoft JhengHei"/>
              </a:defRPr>
            </a:pPr>
            <a:r>
              <a:rPr>
                <a:ea typeface="Microsoft JhengHei"/>
              </a:rPr>
              <a:t>AI DIGEST  /  專案結案報告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E8E4D8"/>
                </a:solidFill>
                <a:latin typeface="Microsoft JhengHei"/>
              </a:defRPr>
            </a:pPr>
            <a:r>
              <a:rPr>
                <a:ea typeface="Microsoft Jheng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6000" b="1">
                <a:solidFill>
                  <a:srgbClr val="F5F0E6"/>
                </a:solidFill>
                <a:latin typeface="Microsoft JhengHei"/>
              </a:defRPr>
            </a:pPr>
            <a:r>
              <a:rPr>
                <a:ea typeface="Microsoft JhengHei"/>
              </a:rPr>
              <a:t>715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2432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8E4D8"/>
                </a:solidFill>
                <a:latin typeface="Microsoft JhengHei"/>
              </a:defRPr>
            </a:pPr>
            <a:r>
              <a:rPr>
                <a:ea typeface="Microsoft JhengHei"/>
              </a:rPr>
              <a:t>Python passed · 2 skipped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6000" b="1">
                <a:solidFill>
                  <a:srgbClr val="F5F0E6"/>
                </a:solidFill>
                <a:latin typeface="Microsoft JhengHei"/>
              </a:defRPr>
            </a:pPr>
            <a:r>
              <a:rPr>
                <a:ea typeface="Microsoft JhengHei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62432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8E4D8"/>
                </a:solidFill>
                <a:latin typeface="Microsoft JhengHei"/>
              </a:defRPr>
            </a:pPr>
            <a:r>
              <a:rPr>
                <a:ea typeface="Microsoft JhengHei"/>
              </a:rPr>
              <a:t>Vitest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015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5F0E6"/>
                </a:solidFill>
                <a:latin typeface="Microsoft JhengHei"/>
              </a:defRPr>
            </a:pPr>
            <a:r>
              <a:rPr>
                <a:ea typeface="Microsoft JhengHei"/>
              </a:rPr>
              <a:t>正式建置與部署驗證通過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69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F5F0E6"/>
                </a:solidFill>
                <a:latin typeface="Microsoft JhengHei"/>
              </a:defRPr>
            </a:pPr>
            <a:r>
              <a:rPr>
                <a:ea typeface="Microsoft JhengHei"/>
              </a:rPr>
              <a:t>真實 push → matching workflow → 公開 smoke 通過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937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F5F0E6"/>
                </a:solidFill>
                <a:latin typeface="Microsoft JhengHei"/>
              </a:defRPr>
            </a:pPr>
            <a:r>
              <a:rPr>
                <a:ea typeface="Microsoft JhengHei"/>
              </a:rPr>
              <a:t>學習成果｜資料契約、安全邊界、可重現評估與部署可靠性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70585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E8E4D8"/>
                </a:solidFill>
                <a:latin typeface="Microsoft JhengHei"/>
              </a:defRPr>
            </a:pPr>
            <a:r>
              <a:rPr>
                <a:ea typeface="Microsoft JhengHei"/>
              </a:rPr>
              <a:t>未實作：PDF／OCR／登入內容／網站後台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63056"/>
            <a:ext cx="8686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8E4D8"/>
                </a:solidFill>
                <a:latin typeface="Microsoft JhengHei"/>
              </a:defRPr>
            </a:pPr>
            <a:r>
              <a:rPr>
                <a:ea typeface="Microsoft JhengHei"/>
              </a:rPr>
              <a:t>驗收依據：2026-09-03 進度紀錄</a:t>
            </a:r>
          </a:p>
        </p:txBody>
      </p:sp>
      <p:sp>
        <p:nvSpPr>
          <p:cNvPr id="14" name="TextBox 13">
            <a:hlinkClick r:id="rId3"/>
          </p:cNvPr>
          <p:cNvSpPr txBox="1"/>
          <p:nvPr/>
        </p:nvSpPr>
        <p:spPr>
          <a:xfrm>
            <a:off x="9509760" y="6071616"/>
            <a:ext cx="20116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8E4D8"/>
                </a:solidFill>
                <a:latin typeface="Microsoft JhengHei"/>
              </a:defRPr>
            </a:pPr>
            <a:r>
              <a:rPr>
                <a:ea typeface="Microsoft JhengHei"/>
              </a:rPr>
              <a:t>公開網站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Digest：結案報告</dc:title>
  <dc:subject>三來源核心 MVP 成果與技術驗證</dc:subject>
  <dc:creator>彭元懋</dc:creator>
  <cp:keywords>AI Digest, 結案報告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